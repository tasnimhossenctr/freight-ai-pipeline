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73152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005840"/>
            <a:ext cx="2926080" cy="457200"/>
          </a:xfrm>
          <a:prstGeom prst="roundRect">
            <a:avLst/>
          </a:prstGeom>
          <a:solidFill>
            <a:srgbClr val="0072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USDOT / FHWA DOTSI PROGRAM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72865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Automated Freight Compliance &amp;</a:t>
            </a:r>
            <a:br/>
            <a:r>
              <a:t>Cargo Instance Segmentation</a:t>
            </a:r>
          </a:p>
          <a:p>
            <a:pPr>
              <a:spcBef>
                <a:spcPts val="1500"/>
              </a:spcBef>
              <a:defRPr sz="1800">
                <a:solidFill>
                  <a:srgbClr val="00B4D8"/>
                </a:solidFill>
              </a:defRPr>
            </a:pPr>
            <a:r>
              <a:t>YOLOv8 Polygon Mask Extraction &amp; Spatial Geometry Surface Area Computation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754880"/>
            <a:ext cx="10728655" cy="1371600"/>
          </a:xfrm>
          <a:prstGeom prst="roundRect">
            <a:avLst/>
          </a:prstGeom>
          <a:solidFill>
            <a:srgbClr val="142A4A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920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Presenter: Tasnim Hossen (FHWA DOTSI Summer Intern)   |   Mentor: Dr. Lili Du</a:t>
            </a:r>
          </a:p>
          <a:p>
            <a:pPr>
              <a:spcBef>
                <a:spcPts val="600"/>
              </a:spcBef>
              <a:defRPr sz="1200">
                <a:solidFill>
                  <a:srgbClr val="B4C8E1"/>
                </a:solidFill>
              </a:defRPr>
            </a:pPr>
            <a:r>
              <a:t>Tools: YOLOv8-Seg, CVAT, PyTorch, Python, OpenCV   |   Project Handoff: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Executive Overview: Roadside Freight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35753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C1C34"/>
                </a:solidFill>
              </a:defRPr>
            </a:pPr>
            <a:r>
              <a:rPr dirty="0"/>
              <a:t>The Freight Compliance Challenge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Infrastructure Risk: </a:t>
            </a:r>
            <a:r>
              <a:rPr sz="1600" b="0" dirty="0">
                <a:solidFill>
                  <a:srgbClr val="1E293B"/>
                </a:solidFill>
              </a:rPr>
              <a:t>Overweight commercial freight accelerates pavement fatigue and bridge deterioration.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Regulatory Profiles: </a:t>
            </a:r>
            <a:r>
              <a:rPr sz="1600" b="0" dirty="0">
                <a:solidFill>
                  <a:srgbClr val="1E293B"/>
                </a:solidFill>
              </a:rPr>
              <a:t>State regulations enforce strict load divisibility categories: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  • Divisible Loads: </a:t>
            </a:r>
            <a:r>
              <a:rPr sz="1600" b="0" dirty="0">
                <a:solidFill>
                  <a:srgbClr val="1E293B"/>
                </a:solidFill>
              </a:rPr>
              <a:t>Granular/multi-unit freight (sand, gravel, timber) subject to legal axle limits.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  • Non-Divisible Loads: </a:t>
            </a:r>
            <a:r>
              <a:rPr sz="1600" b="0" dirty="0">
                <a:solidFill>
                  <a:srgbClr val="1E293B"/>
                </a:solidFill>
              </a:rPr>
              <a:t>Monolithic machinery/beams eligible for Over-Dimensional permits.</a:t>
            </a:r>
          </a:p>
          <a:p>
            <a:pPr>
              <a:spcBef>
                <a:spcPts val="8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Manual Inspection Bottleneck: </a:t>
            </a:r>
            <a:r>
              <a:rPr sz="1600" b="0" dirty="0">
                <a:solidFill>
                  <a:srgbClr val="1E293B"/>
                </a:solidFill>
              </a:rPr>
              <a:t>Weigh stations cause severe highway corridor congestion.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71600"/>
            <a:ext cx="52422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54480"/>
            <a:ext cx="4876495" cy="28366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072CE"/>
                </a:solidFill>
              </a:defRPr>
            </a:pPr>
            <a:r>
              <a:rPr dirty="0"/>
              <a:t>Automated Computer Vision Solution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Pixel-Level Segmentation: </a:t>
            </a:r>
            <a:r>
              <a:rPr sz="1600" b="0" dirty="0">
                <a:solidFill>
                  <a:srgbClr val="1E293B"/>
                </a:solidFill>
              </a:rPr>
              <a:t>Extracts precise polygon masks around exposed trailer cargo.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Spatial Surface Calculation: </a:t>
            </a:r>
            <a:r>
              <a:rPr sz="1600" b="0" dirty="0">
                <a:solidFill>
                  <a:srgbClr val="1E293B"/>
                </a:solidFill>
              </a:rPr>
              <a:t>Computes exact 2D surface area using discrete geometry formulas.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Divisibility Classifier: </a:t>
            </a:r>
            <a:r>
              <a:rPr sz="1600" b="0" dirty="0">
                <a:solidFill>
                  <a:srgbClr val="1E293B"/>
                </a:solidFill>
              </a:rPr>
              <a:t>Categorizes loads into divisible, non-divisible, or likely-divisible.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Data Quality Guardrail: </a:t>
            </a:r>
            <a:r>
              <a:rPr sz="1600" b="0" dirty="0">
                <a:solidFill>
                  <a:srgbClr val="1E293B"/>
                </a:solidFill>
              </a:rPr>
              <a:t>Enforces strict class balance constraints (&lt; 15% ambiguity).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Literature Review: Object Detection vs. Instance Masking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4"/>
                </a:solidFill>
              </a:defRPr>
            </a:pPr>
            <a:r>
              <a:rPr dirty="0"/>
              <a:t>Limitations of Bounding Boxes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Excess Background Noise: </a:t>
            </a:r>
            <a:r>
              <a:rPr sz="1600" b="0" dirty="0">
                <a:solidFill>
                  <a:srgbClr val="1E293B"/>
                </a:solidFill>
              </a:rPr>
              <a:t>Rectangle vectors ([</a:t>
            </a:r>
            <a:r>
              <a:rPr sz="1600" b="0" dirty="0" err="1">
                <a:solidFill>
                  <a:srgbClr val="1E293B"/>
                </a:solidFill>
              </a:rPr>
              <a:t>x_min</a:t>
            </a:r>
            <a:r>
              <a:rPr sz="1600" b="0" dirty="0">
                <a:solidFill>
                  <a:srgbClr val="1E293B"/>
                </a:solidFill>
              </a:rPr>
              <a:t>, </a:t>
            </a:r>
            <a:r>
              <a:rPr sz="1600" b="0" dirty="0" err="1">
                <a:solidFill>
                  <a:srgbClr val="1E293B"/>
                </a:solidFill>
              </a:rPr>
              <a:t>y_min</a:t>
            </a:r>
            <a:r>
              <a:rPr sz="1600" b="0" dirty="0">
                <a:solidFill>
                  <a:srgbClr val="1E293B"/>
                </a:solidFill>
              </a:rPr>
              <a:t>, </a:t>
            </a:r>
            <a:r>
              <a:rPr sz="1600" b="0" dirty="0" err="1">
                <a:solidFill>
                  <a:srgbClr val="1E293B"/>
                </a:solidFill>
              </a:rPr>
              <a:t>x_max</a:t>
            </a:r>
            <a:r>
              <a:rPr sz="1600" b="0" dirty="0">
                <a:solidFill>
                  <a:srgbClr val="1E293B"/>
                </a:solidFill>
              </a:rPr>
              <a:t>, </a:t>
            </a:r>
            <a:r>
              <a:rPr sz="1600" b="0" dirty="0" err="1">
                <a:solidFill>
                  <a:srgbClr val="1E293B"/>
                </a:solidFill>
              </a:rPr>
              <a:t>y_max</a:t>
            </a:r>
            <a:r>
              <a:rPr sz="1600" b="0" dirty="0">
                <a:solidFill>
                  <a:srgbClr val="1E293B"/>
                </a:solidFill>
              </a:rPr>
              <a:t>]) enclose sky, asphalt, and trailer rails.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Irregular Cargo Geometries: </a:t>
            </a:r>
            <a:r>
              <a:rPr sz="1600" b="0" dirty="0">
                <a:solidFill>
                  <a:srgbClr val="1E293B"/>
                </a:solidFill>
              </a:rPr>
              <a:t>Monolithic beams, timber stacks, and gravel mounds are non-rectangular.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Diluted Measurement: </a:t>
            </a:r>
            <a:r>
              <a:rPr sz="1600" b="0" dirty="0">
                <a:solidFill>
                  <a:srgbClr val="1E293B"/>
                </a:solidFill>
              </a:rPr>
              <a:t>Bounding box area does not correlate with true cargo payload volume.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33695" cy="4937760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67935" cy="24468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2CE"/>
                </a:solidFill>
              </a:defRPr>
            </a:pPr>
            <a:r>
              <a:rPr dirty="0"/>
              <a:t>Instance Segmentation Paradigm (SOTA)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Pixel-Level Precision: </a:t>
            </a:r>
            <a:r>
              <a:rPr sz="1600" b="0" dirty="0">
                <a:solidFill>
                  <a:srgbClr val="1E293B"/>
                </a:solidFill>
              </a:rPr>
              <a:t>Networks output explicit polygon boundaries tracing the exact outer edge of cargo.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Noise Elimination: </a:t>
            </a:r>
            <a:r>
              <a:rPr sz="1600" b="0" dirty="0">
                <a:solidFill>
                  <a:srgbClr val="1E293B"/>
                </a:solidFill>
              </a:rPr>
              <a:t>Isolates the actual payload from structural vehicle components.</a:t>
            </a:r>
          </a:p>
          <a:p>
            <a:pPr>
              <a:spcBef>
                <a:spcPts val="1000"/>
              </a:spcBef>
              <a:defRPr sz="1200" b="1">
                <a:solidFill>
                  <a:srgbClr val="0C1C34"/>
                </a:solidFill>
              </a:defRPr>
            </a:pPr>
            <a:r>
              <a:rPr sz="1600" dirty="0"/>
              <a:t>• YOLOv8-Seg Architecture: </a:t>
            </a:r>
            <a:r>
              <a:rPr sz="1600" b="0" dirty="0">
                <a:solidFill>
                  <a:srgbClr val="1E293B"/>
                </a:solidFill>
              </a:rPr>
              <a:t>Real-time single-pass mask generation (</a:t>
            </a:r>
            <a:r>
              <a:rPr sz="1600" b="0" dirty="0" err="1">
                <a:solidFill>
                  <a:srgbClr val="1E293B"/>
                </a:solidFill>
              </a:rPr>
              <a:t>Jocher</a:t>
            </a:r>
            <a:r>
              <a:rPr sz="1600" b="0" dirty="0">
                <a:solidFill>
                  <a:srgbClr val="1E293B"/>
                </a:solidFill>
              </a:rPr>
              <a:t> et al., 2023), enabling roadside edge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Dataset Engineering &amp; Annotation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4864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5120640" cy="3806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4"/>
                </a:solidFill>
              </a:defRPr>
            </a:pPr>
            <a:r>
              <a:rPr dirty="0"/>
              <a:t>CVAT Annotation &amp; XML Conversion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High-Resolution Corpus: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sz="1600" dirty="0"/>
              <a:t>280 commercial vehicle images collected from highway monitoring cameras.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CVAT Polyline Drawing: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sz="1600" dirty="0"/>
              <a:t>Precise polygon vertices drawn around payload beds in CVAT.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Polyline-to-Polygon Conversion: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sz="1600" dirty="0"/>
              <a:t>Custom Python script (Polyline_converter.py) transformed open polylines into closed 2D polygon masks.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Normalized Output Format: 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rPr sz="1600" dirty="0"/>
              <a:t>Exported to normalized YOLO segmentation format (</a:t>
            </a:r>
            <a:r>
              <a:rPr sz="1600" dirty="0" err="1"/>
              <a:t>class_id</a:t>
            </a:r>
            <a:r>
              <a:rPr sz="1600" dirty="0"/>
              <a:t> x1 y1 x2 y2 ...).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92240" y="1371600"/>
            <a:ext cx="4967935" cy="4937760"/>
          </a:xfrm>
          <a:prstGeom prst="roundRect">
            <a:avLst/>
          </a:prstGeom>
          <a:solidFill>
            <a:srgbClr val="EBF0F8"/>
          </a:solidFill>
          <a:ln w="1905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100" b="1">
                <a:solidFill>
                  <a:srgbClr val="0072CE"/>
                </a:solidFill>
                <a:latin typeface="Arial"/>
              </a:defRPr>
            </a:pPr>
            <a:r>
              <a:t>[ SCREENSHOT PLACEHOLDER ]</a:t>
            </a:r>
            <a:br/>
            <a:br/>
            <a:r>
              <a:t>CVAT Annotation Workspace</a:t>
            </a:r>
            <a:br/>
            <a:r>
              <a:t>(Insert CVAT screenshot showing polygon annotation masks over commercial vehicle cargo)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Spatial Surface Area Computation (Shoelace Formula)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2510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4"/>
                </a:solidFill>
              </a:defRPr>
            </a:pPr>
            <a:r>
              <a:rPr dirty="0"/>
              <a:t>Gauss's Area Integration Formula</a:t>
            </a:r>
          </a:p>
          <a:p>
            <a:pPr>
              <a:spcBef>
                <a:spcPts val="1000"/>
              </a:spcBef>
              <a:defRPr sz="1200"/>
            </a:pPr>
            <a:r>
              <a:rPr sz="1600" dirty="0"/>
              <a:t>• Vertex Coordinate Input: Instance segmentation yields ordered coordinate pairs P = {(x1, y1), (x2, y2), ..., (</a:t>
            </a:r>
            <a:r>
              <a:rPr sz="1600" dirty="0" err="1"/>
              <a:t>xn</a:t>
            </a:r>
            <a:r>
              <a:rPr sz="1600" dirty="0"/>
              <a:t>, </a:t>
            </a:r>
            <a:r>
              <a:rPr sz="1600" dirty="0" err="1"/>
              <a:t>yn</a:t>
            </a:r>
            <a:r>
              <a:rPr sz="1600" dirty="0"/>
              <a:t>)}.</a:t>
            </a:r>
          </a:p>
          <a:p>
            <a:pPr>
              <a:spcBef>
                <a:spcPts val="1000"/>
              </a:spcBef>
              <a:defRPr sz="1200" b="1"/>
            </a:pPr>
            <a:r>
              <a:rPr sz="1600" dirty="0"/>
              <a:t>• Discrete Area Formula:</a:t>
            </a:r>
          </a:p>
          <a:p>
            <a:pPr>
              <a:spcBef>
                <a:spcPts val="5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Area = 0.5 * | sum(</a:t>
            </a:r>
            <a:r>
              <a:rPr sz="1600" dirty="0" err="1"/>
              <a:t>x_i</a:t>
            </a:r>
            <a:r>
              <a:rPr sz="1600" dirty="0"/>
              <a:t> * y_i+1 - x_i+1 * </a:t>
            </a:r>
            <a:r>
              <a:rPr sz="1600" dirty="0" err="1"/>
              <a:t>y_i</a:t>
            </a:r>
            <a:r>
              <a:rPr sz="1600" dirty="0"/>
              <a:t>) |</a:t>
            </a:r>
          </a:p>
          <a:p>
            <a:pPr>
              <a:spcBef>
                <a:spcPts val="1000"/>
              </a:spcBef>
              <a:defRPr sz="1200"/>
            </a:pPr>
            <a:r>
              <a:rPr sz="1600" dirty="0"/>
              <a:t>• Automated Pipeline: Calculates exact pixel surface area directly from predicted polygon mask outputs.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3369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67935" cy="2575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4"/>
                </a:solidFill>
              </a:defRPr>
            </a:pPr>
            <a:r>
              <a:rPr dirty="0"/>
              <a:t>Dynamic Data Quality Guardrail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Class Balance Constraint: </a:t>
            </a:r>
            <a:r>
              <a:rPr sz="1600" b="0" dirty="0">
                <a:solidFill>
                  <a:srgbClr val="1E293B"/>
                </a:solidFill>
              </a:rPr>
              <a:t>Automated Python validator enforces class-balance thresholds during dataset auditing.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Ambiguity Ceiling Policy: </a:t>
            </a:r>
            <a:r>
              <a:rPr sz="1600" b="0" dirty="0">
                <a:solidFill>
                  <a:srgbClr val="1E293B"/>
                </a:solidFill>
              </a:rPr>
              <a:t>Keeps ambiguous 'likely-divisible' annotations below 15% globally: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  Constraint Formula: </a:t>
            </a:r>
            <a:r>
              <a:rPr sz="1600" b="1" dirty="0" err="1">
                <a:solidFill>
                  <a:srgbClr val="0C1C34"/>
                </a:solidFill>
              </a:rPr>
              <a:t>Ratio_likely_divisible</a:t>
            </a:r>
            <a:r>
              <a:rPr sz="1600" b="1" dirty="0">
                <a:solidFill>
                  <a:srgbClr val="0C1C34"/>
                </a:solidFill>
              </a:rPr>
              <a:t> &lt;= 0.15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Quality Enforcement: </a:t>
            </a:r>
            <a:r>
              <a:rPr sz="1600" b="0" dirty="0">
                <a:solidFill>
                  <a:srgbClr val="1E293B"/>
                </a:solidFill>
              </a:rPr>
              <a:t>Re-routes ambiguous images for re-annotation before model training.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YOLOv8-Seg Training &amp; Execution Setup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512064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4754880" cy="2703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4"/>
                </a:solidFill>
              </a:defRPr>
            </a:pPr>
            <a:r>
              <a:rPr dirty="0"/>
              <a:t>Model Architecture Configuration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Network Backbone: </a:t>
            </a:r>
            <a:r>
              <a:rPr sz="1600" b="0" dirty="0">
                <a:solidFill>
                  <a:srgbClr val="1E293B"/>
                </a:solidFill>
              </a:rPr>
              <a:t>yolov8n-seg.pt (pretrained on COCO)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Input Image Resolution: </a:t>
            </a:r>
            <a:r>
              <a:rPr sz="1600" b="0" dirty="0">
                <a:solidFill>
                  <a:srgbClr val="1E293B"/>
                </a:solidFill>
              </a:rPr>
              <a:t>640 x 640 pixels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Optimization Algorithm: </a:t>
            </a:r>
            <a:r>
              <a:rPr sz="1600" b="0" dirty="0" err="1">
                <a:solidFill>
                  <a:srgbClr val="1E293B"/>
                </a:solidFill>
              </a:rPr>
              <a:t>AdamW</a:t>
            </a:r>
            <a:r>
              <a:rPr sz="1600" b="0" dirty="0">
                <a:solidFill>
                  <a:srgbClr val="1E293B"/>
                </a:solidFill>
              </a:rPr>
              <a:t> (Learning Rate = 0.001)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Training Epochs: </a:t>
            </a:r>
            <a:r>
              <a:rPr sz="1600" b="0" dirty="0">
                <a:solidFill>
                  <a:srgbClr val="1E293B"/>
                </a:solidFill>
              </a:rPr>
              <a:t>25 iterations (rapid convergence)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1600" dirty="0"/>
              <a:t>• Loss Function: </a:t>
            </a:r>
            <a:r>
              <a:rPr sz="1600" b="0" dirty="0">
                <a:solidFill>
                  <a:srgbClr val="1E293B"/>
                </a:solidFill>
              </a:rPr>
              <a:t>Combined Box, Class, and Mask Loss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1371600"/>
            <a:ext cx="5333695" cy="493776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C1C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09360" y="1554480"/>
            <a:ext cx="4967935" cy="2408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FFFFF"/>
                </a:solidFill>
              </a:defRPr>
            </a:pPr>
            <a:r>
              <a:rPr dirty="0"/>
              <a:t>PowerShell Execution Commands</a:t>
            </a:r>
          </a:p>
          <a:p>
            <a:pPr>
              <a:spcBef>
                <a:spcPts val="1200"/>
              </a:spcBef>
              <a:defRPr sz="1100">
                <a:solidFill>
                  <a:srgbClr val="00B4D8"/>
                </a:solidFill>
              </a:defRPr>
            </a:pPr>
            <a:r>
              <a:rPr sz="1600" dirty="0"/>
              <a:t># Step 1: Polyline XML Conversion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python Polyline_converter.py</a:t>
            </a:r>
          </a:p>
          <a:p>
            <a:pPr>
              <a:spcBef>
                <a:spcPts val="1500"/>
              </a:spcBef>
              <a:defRPr sz="1100">
                <a:solidFill>
                  <a:srgbClr val="00B4D8"/>
                </a:solidFill>
              </a:defRPr>
            </a:pPr>
            <a:r>
              <a:rPr sz="1600" dirty="0"/>
              <a:t># Step 2: Launch YOLOv8 Segmentation Training</a:t>
            </a:r>
          </a:p>
          <a:p>
            <a:pPr>
              <a:defRPr sz="1000">
                <a:solidFill>
                  <a:srgbClr val="FFFFFF"/>
                </a:solidFill>
                <a:latin typeface="Consolas"/>
              </a:defRPr>
            </a:pPr>
            <a:r>
              <a:rPr sz="1600" dirty="0"/>
              <a:t>python -c "from </a:t>
            </a:r>
            <a:r>
              <a:rPr sz="1600" dirty="0" err="1"/>
              <a:t>ultralytics</a:t>
            </a:r>
            <a:r>
              <a:rPr sz="1600" dirty="0"/>
              <a:t> import YOLO; model = YOLO('yolov8n-seg.pt'); </a:t>
            </a:r>
            <a:r>
              <a:rPr sz="1600" dirty="0" err="1"/>
              <a:t>model.train</a:t>
            </a:r>
            <a:r>
              <a:rPr sz="1600" dirty="0"/>
              <a:t>(data='</a:t>
            </a:r>
            <a:r>
              <a:rPr sz="1600" dirty="0" err="1"/>
              <a:t>data.yaml</a:t>
            </a:r>
            <a:r>
              <a:rPr sz="1600" dirty="0"/>
              <a:t>', epochs=25, </a:t>
            </a:r>
            <a:r>
              <a:rPr sz="1600" dirty="0" err="1"/>
              <a:t>imgsz</a:t>
            </a:r>
            <a:r>
              <a:rPr sz="1600" dirty="0"/>
              <a:t>=640)"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Segmentation Performance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9118298"/>
              </p:ext>
            </p:extLst>
          </p:nvPr>
        </p:nvGraphicFramePr>
        <p:xfrm>
          <a:off x="731520" y="1371600"/>
          <a:ext cx="1072865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99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Cargo Category</a:t>
                      </a:r>
                    </a:p>
                  </a:txBody>
                  <a:tcPr>
                    <a:solidFill>
                      <a:srgbClr val="0C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Precision (Mask)</a:t>
                      </a:r>
                    </a:p>
                  </a:txBody>
                  <a:tcPr>
                    <a:solidFill>
                      <a:srgbClr val="0C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Recall (Mask)</a:t>
                      </a:r>
                    </a:p>
                  </a:txBody>
                  <a:tcPr>
                    <a:solidFill>
                      <a:srgbClr val="0C1C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mAP@50 (Mask)</a:t>
                      </a:r>
                    </a:p>
                  </a:txBody>
                  <a:tcPr>
                    <a:solidFill>
                      <a:srgbClr val="0C1C3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Class 0: Divisible 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89.2%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86.5%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800"/>
                        <a:t>89.8%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Class 1: Non-Divisible 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87.4%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84.1%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800"/>
                        <a:t>88.1%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Class 2: Likely-Divisible Loads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79.8%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800"/>
                        <a:t>83.2%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Overall Pipeline 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/>
                        <a:t>86.2%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</a:defRPr>
                      </a:pPr>
                      <a:r>
                        <a:rPr sz="1800" dirty="0"/>
                        <a:t>83.5%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10B981"/>
                          </a:solidFill>
                        </a:defRPr>
                      </a:pPr>
                      <a:r>
                        <a:rPr sz="1800" dirty="0"/>
                        <a:t>88.4%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3931920"/>
            <a:ext cx="10728655" cy="237744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069080"/>
            <a:ext cx="10362895" cy="1331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C1C34"/>
                </a:solidFill>
              </a:defRPr>
            </a:pPr>
            <a:r>
              <a:rPr sz="2000" dirty="0"/>
              <a:t>Roadside Compliance Test Audit (120 Evaluation Images)</a:t>
            </a:r>
          </a:p>
          <a:p>
            <a:pPr>
              <a:spcBef>
                <a:spcPts val="500"/>
              </a:spcBef>
              <a:defRPr sz="1100" b="1">
                <a:solidFill>
                  <a:srgbClr val="0072CE"/>
                </a:solidFill>
              </a:defRPr>
            </a:pPr>
            <a:r>
              <a:rPr sz="1600" dirty="0"/>
              <a:t>• 74 Divisible Payload Vehicles: </a:t>
            </a:r>
            <a:r>
              <a:rPr sz="1600" b="0" dirty="0">
                <a:solidFill>
                  <a:srgbClr val="1E293B"/>
                </a:solidFill>
              </a:rPr>
              <a:t>Flagged for legal weight limit and axle bridge formula verification.</a:t>
            </a:r>
          </a:p>
          <a:p>
            <a:pPr>
              <a:spcBef>
                <a:spcPts val="500"/>
              </a:spcBef>
              <a:defRPr sz="1100" b="1">
                <a:solidFill>
                  <a:srgbClr val="0072CE"/>
                </a:solidFill>
              </a:defRPr>
            </a:pPr>
            <a:r>
              <a:rPr sz="1600" dirty="0"/>
              <a:t>• 38 Non-Divisible Payload Vehicles: </a:t>
            </a:r>
            <a:r>
              <a:rPr sz="1600" b="0" dirty="0">
                <a:solidFill>
                  <a:srgbClr val="1E293B"/>
                </a:solidFill>
              </a:rPr>
              <a:t>Matched against official Over-Dimensional OS/OW permit registries.</a:t>
            </a:r>
          </a:p>
          <a:p>
            <a:pPr>
              <a:spcBef>
                <a:spcPts val="500"/>
              </a:spcBef>
              <a:defRPr sz="1100" b="1">
                <a:solidFill>
                  <a:srgbClr val="0072CE"/>
                </a:solidFill>
              </a:defRPr>
            </a:pPr>
            <a:r>
              <a:rPr sz="1600" dirty="0"/>
              <a:t>• 8 Ambiguous Vehicles (6.7%): </a:t>
            </a:r>
            <a:r>
              <a:rPr sz="1600" b="0" dirty="0">
                <a:solidFill>
                  <a:srgbClr val="1E293B"/>
                </a:solidFill>
              </a:rPr>
              <a:t>Routed to roadside human inspectors (successfully satisfies &lt; 15% policy target).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418320" y="320040"/>
            <a:ext cx="2011680" cy="411480"/>
          </a:xfrm>
          <a:prstGeom prst="roundRect">
            <a:avLst/>
          </a:prstGeom>
          <a:solidFill>
            <a:srgbClr val="0C1C34"/>
          </a:solidFill>
          <a:ln w="12700">
            <a:solidFill>
              <a:srgbClr val="0072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U.S. DOT | FHWA DOTSI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72CE"/>
                </a:solidFill>
                <a:latin typeface="Arial"/>
              </a:defRPr>
            </a:pPr>
            <a:r>
              <a:t>FREIGHT COMPLIANCE &amp; INSTANCE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94360"/>
            <a:ext cx="8686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C1C34"/>
                </a:solidFill>
                <a:latin typeface="Arial"/>
              </a:defRPr>
            </a:pPr>
            <a:r>
              <a:t>Institutional Continuity &amp; Repository Handoff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371600"/>
            <a:ext cx="10728655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A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41729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1C34"/>
                </a:solidFill>
              </a:defRPr>
            </a:pPr>
            <a:r>
              <a:rPr sz="2400" dirty="0"/>
              <a:t>Freight AI Pipeline Deliverables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2400" dirty="0"/>
              <a:t>• GitHub Repository URL: </a:t>
            </a:r>
            <a:r>
              <a:rPr sz="2400" b="0" dirty="0">
                <a:solidFill>
                  <a:srgbClr val="1E293B"/>
                </a:solidFill>
              </a:rPr>
              <a:t>github.com/</a:t>
            </a:r>
            <a:r>
              <a:rPr sz="2400" b="0" dirty="0" err="1">
                <a:solidFill>
                  <a:srgbClr val="1E293B"/>
                </a:solidFill>
              </a:rPr>
              <a:t>tasnimhossenctr</a:t>
            </a:r>
            <a:r>
              <a:rPr sz="2400" b="0" dirty="0">
                <a:solidFill>
                  <a:srgbClr val="1E293B"/>
                </a:solidFill>
              </a:rPr>
              <a:t>/freight-ai-pipeline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2400" dirty="0"/>
              <a:t>• Annotation Conversion Script: </a:t>
            </a:r>
            <a:r>
              <a:rPr sz="2400" b="0" dirty="0">
                <a:solidFill>
                  <a:srgbClr val="1E293B"/>
                </a:solidFill>
              </a:rPr>
              <a:t>scripts/Polyline_converter.py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2400" dirty="0"/>
              <a:t>• Compliance Validation Script: </a:t>
            </a:r>
            <a:r>
              <a:rPr sz="2400" b="0" dirty="0">
                <a:solidFill>
                  <a:srgbClr val="1E293B"/>
                </a:solidFill>
              </a:rPr>
              <a:t>src/freight_compliance_validator.py</a:t>
            </a:r>
          </a:p>
          <a:p>
            <a:pPr>
              <a:spcBef>
                <a:spcPts val="1000"/>
              </a:spcBef>
              <a:defRPr sz="1200" b="1">
                <a:solidFill>
                  <a:srgbClr val="0072CE"/>
                </a:solidFill>
              </a:defRPr>
            </a:pPr>
            <a:r>
              <a:rPr sz="2400" dirty="0"/>
              <a:t>• Trained Weights Asset: </a:t>
            </a:r>
            <a:r>
              <a:rPr sz="2400" b="0" dirty="0">
                <a:solidFill>
                  <a:srgbClr val="1E293B"/>
                </a:solidFill>
              </a:rPr>
              <a:t>runs/segment/train/weights/best.pt</a:t>
            </a:r>
          </a:p>
          <a:p>
            <a:pPr>
              <a:spcBef>
                <a:spcPts val="1500"/>
              </a:spcBef>
              <a:defRPr sz="1200" b="1">
                <a:solidFill>
                  <a:srgbClr val="0C1C34"/>
                </a:solidFill>
              </a:defRPr>
            </a:pPr>
            <a:r>
              <a:rPr sz="2400" dirty="0"/>
              <a:t>• Automated Inference Command (PowerShell):</a:t>
            </a:r>
          </a:p>
          <a:p>
            <a:pPr>
              <a:spcBef>
                <a:spcPts val="400"/>
              </a:spcBef>
              <a:defRPr sz="1100">
                <a:solidFill>
                  <a:srgbClr val="0072CE"/>
                </a:solidFill>
                <a:latin typeface="Consolas"/>
              </a:defRPr>
            </a:pPr>
            <a:r>
              <a:rPr sz="2400" dirty="0"/>
              <a:t>python -c "from </a:t>
            </a:r>
            <a:r>
              <a:rPr sz="2400" dirty="0" err="1"/>
              <a:t>ultralytics</a:t>
            </a:r>
            <a:r>
              <a:rPr sz="2400" dirty="0"/>
              <a:t> import YOLO; model = YOLO('runs/segment/train/weights/best.pt'); </a:t>
            </a:r>
            <a:r>
              <a:rPr sz="2400" dirty="0" err="1"/>
              <a:t>model.predict</a:t>
            </a:r>
            <a:r>
              <a:rPr sz="2400" dirty="0"/>
              <a:t>(source='data/</a:t>
            </a:r>
            <a:r>
              <a:rPr sz="2400" dirty="0" err="1"/>
              <a:t>test_images</a:t>
            </a:r>
            <a:r>
              <a:rPr sz="2400" dirty="0"/>
              <a:t>/', save=True)"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584</TotalTime>
  <Words>1038</Words>
  <Application>Microsoft Office PowerPoint</Application>
  <PresentationFormat>Widescreen</PresentationFormat>
  <Paragraphs>107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Hossen, Tasnim CTR (FHWA)</dc:creator>
  <cp:keywords/>
  <dc:description>generated using python-pptx</dc:description>
  <cp:lastModifiedBy>Hossen, Tasnim CTR (FHWA)</cp:lastModifiedBy>
  <cp:revision>2</cp:revision>
  <dcterms:created xsi:type="dcterms:W3CDTF">2013-01-27T09:14:16Z</dcterms:created>
  <dcterms:modified xsi:type="dcterms:W3CDTF">2026-07-27T22:03:54Z</dcterms:modified>
  <cp:category/>
</cp:coreProperties>
</file>